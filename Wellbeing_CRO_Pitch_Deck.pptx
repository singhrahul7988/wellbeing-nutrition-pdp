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3A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530352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Inter Display"/>
              </a:rPr>
              <a:t>wellbeing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83664" y="63093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B4DAD2"/>
                </a:solidFill>
                <a:latin typeface="Inter"/>
              </a:rPr>
              <a:t>nutrition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353312"/>
            <a:ext cx="1417320" cy="320040"/>
          </a:xfrm>
          <a:prstGeom prst="roundRect">
            <a:avLst/>
          </a:prstGeom>
          <a:solidFill>
            <a:srgbClr val="245752"/>
          </a:solidFill>
          <a:ln w="12700">
            <a:solidFill>
              <a:srgbClr val="245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362456"/>
            <a:ext cx="14173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Inter"/>
              </a:rPr>
              <a:t>CRO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847088"/>
            <a:ext cx="56692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Inter Display"/>
              </a:rPr>
              <a:t>Conversion Rate
Optimisation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401568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D9EBE6"/>
                </a:solidFill>
                <a:latin typeface="Inter"/>
              </a:rPr>
              <a:t>Pure Korean Marine Collagen Peptides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005072"/>
            <a:ext cx="5029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BBDBD4"/>
                </a:solidFill>
                <a:latin typeface="Inter"/>
              </a:rPr>
              <a:t>Turning product credibility into clearer purchase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89788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Inter"/>
              </a:rPr>
              <a:t>Rahul Singh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99632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ABCDC6"/>
                </a:solidFill>
                <a:latin typeface="Inter"/>
              </a:rPr>
              <a:t>23 Sep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621792"/>
            <a:ext cx="4617720" cy="5623560"/>
          </a:xfrm>
          <a:prstGeom prst="roundRect">
            <a:avLst/>
          </a:prstGeom>
          <a:solidFill>
            <a:srgbClr val="F6FAF7"/>
          </a:solidFill>
          <a:ln w="12700">
            <a:solidFill>
              <a:srgbClr val="F6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52360" y="1152144"/>
            <a:ext cx="3529584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roduc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2873" y="1335024"/>
            <a:ext cx="2150268" cy="1965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62672" y="3401568"/>
            <a:ext cx="2971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B3D3B"/>
                </a:solidFill>
                <a:latin typeface="Inter Display"/>
              </a:rPr>
              <a:t>PURE KOREAN MARINE
COLLAGEN PEPTIDES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52944" y="4096512"/>
            <a:ext cx="1234440" cy="320040"/>
          </a:xfrm>
          <a:prstGeom prst="roundRect">
            <a:avLst/>
          </a:prstGeom>
          <a:solidFill>
            <a:srgbClr val="E4F2ED"/>
          </a:solidFill>
          <a:ln w="12700">
            <a:solidFill>
              <a:srgbClr val="E4F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52944" y="4105656"/>
            <a:ext cx="12344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B3D3B"/>
                </a:solidFill>
                <a:latin typeface="Inter"/>
              </a:rPr>
              <a:t>8g / serving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4544" y="4096512"/>
            <a:ext cx="1097280" cy="320040"/>
          </a:xfrm>
          <a:prstGeom prst="roundRect">
            <a:avLst/>
          </a:prstGeom>
          <a:solidFill>
            <a:srgbClr val="DAEFF0"/>
          </a:solidFill>
          <a:ln w="12700">
            <a:solidFill>
              <a:srgbClr val="DA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24544" y="4105656"/>
            <a:ext cx="10972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B3D3B"/>
                </a:solidFill>
                <a:latin typeface="Inter"/>
              </a:rPr>
              <a:t>&lt;1000 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88352" y="4709160"/>
            <a:ext cx="3657600" cy="960120"/>
          </a:xfrm>
          <a:prstGeom prst="roundRect">
            <a:avLst/>
          </a:prstGeom>
          <a:solidFill>
            <a:srgbClr val="E9F4F0"/>
          </a:solidFill>
          <a:ln w="12700">
            <a:solidFill>
              <a:srgbClr val="E9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6" y="4901184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B3D3B"/>
                </a:solidFill>
                <a:latin typeface="Inter"/>
              </a:rPr>
              <a:t>CORE THESIS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6096" y="5175504"/>
            <a:ext cx="312724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11F1D"/>
                </a:solidFill>
                <a:latin typeface="Inter Display"/>
              </a:rPr>
              <a:t>Sell the routine — not just the tub.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5925312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" b="0" i="0">
                <a:solidFill>
                  <a:srgbClr val="65726D"/>
                </a:solidFill>
                <a:latin typeface="Inter"/>
              </a:rPr>
              <a:t>Heuristic CRO audit + competitive benchmark + clickable HTML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B3D3B"/>
                </a:solidFill>
                <a:latin typeface="Inter"/>
              </a:rPr>
              <a:t>EXECUTIVE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50" b="1" i="0">
                <a:solidFill>
                  <a:srgbClr val="111F1D"/>
                </a:solidFill>
                <a:latin typeface="Inter Display"/>
              </a:rPr>
              <a:t>Strong proof. Opportunity in purchase architecture.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5726D"/>
                </a:solidFill>
                <a:latin typeface="Inter"/>
              </a:rPr>
              <a:t>The current PDP is rich in trust, science and reviews. The biggest opportunity is making the buying decision easier — especially the pack choice.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" y="1938528"/>
            <a:ext cx="1883664" cy="868680"/>
          </a:xfrm>
          <a:prstGeom prst="roundRect">
            <a:avLst/>
          </a:prstGeom>
          <a:solidFill>
            <a:srgbClr val="E4F2ED"/>
          </a:solidFill>
          <a:ln w="12700">
            <a:solidFill>
              <a:srgbClr val="E4F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093976"/>
            <a:ext cx="658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0B3D3B"/>
                </a:solidFill>
                <a:latin typeface="Inter Display"/>
              </a:rPr>
              <a:t>571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176" y="2112264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434D49"/>
                </a:solidFill>
                <a:latin typeface="Inter"/>
              </a:rPr>
              <a:t>customer reviews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1938528"/>
            <a:ext cx="1883664" cy="868680"/>
          </a:xfrm>
          <a:prstGeom prst="roundRect">
            <a:avLst/>
          </a:prstGeom>
          <a:solidFill>
            <a:srgbClr val="DAEFF0"/>
          </a:solidFill>
          <a:ln w="12700">
            <a:solidFill>
              <a:srgbClr val="DA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35224" y="2093976"/>
            <a:ext cx="658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0B3D3B"/>
                </a:solidFill>
                <a:latin typeface="Inter Display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2112264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434D49"/>
                </a:solidFill>
                <a:latin typeface="Inter"/>
              </a:rPr>
              <a:t>weeks of consistent use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64608" y="1938528"/>
            <a:ext cx="1883664" cy="868680"/>
          </a:xfrm>
          <a:prstGeom prst="roundRect">
            <a:avLst/>
          </a:prstGeom>
          <a:solidFill>
            <a:srgbClr val="E3EFF7"/>
          </a:solidFill>
          <a:ln w="12700">
            <a:solidFill>
              <a:srgbClr val="E3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093976"/>
            <a:ext cx="658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0B3D3B"/>
                </a:solidFill>
                <a:latin typeface="Inter Display"/>
              </a:rPr>
              <a:t>20+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96128" y="2112264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434D49"/>
                </a:solidFill>
                <a:latin typeface="Inter"/>
              </a:rPr>
              <a:t>ingredient studies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" y="3081528"/>
            <a:ext cx="3072384" cy="2587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7" y="3273552"/>
            <a:ext cx="1536192" cy="320040"/>
          </a:xfrm>
          <a:prstGeom prst="roundRect">
            <a:avLst/>
          </a:prstGeom>
          <a:solidFill>
            <a:srgbClr val="E4F2ED"/>
          </a:solidFill>
          <a:ln w="12700">
            <a:solidFill>
              <a:srgbClr val="E4F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282696"/>
            <a:ext cx="15361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60" b="1" i="0">
                <a:solidFill>
                  <a:srgbClr val="0B3D3B"/>
                </a:solidFill>
                <a:latin typeface="Inter"/>
              </a:rPr>
              <a:t>ALREADY STRONG</a:t>
            </a:r>
          </a:p>
        </p:txBody>
      </p:sp>
      <p:sp>
        <p:nvSpPr>
          <p:cNvPr id="18" name="Oval 17"/>
          <p:cNvSpPr/>
          <p:nvPr/>
        </p:nvSpPr>
        <p:spPr>
          <a:xfrm>
            <a:off x="877824" y="3840480"/>
            <a:ext cx="82296" cy="82296"/>
          </a:xfrm>
          <a:prstGeom prst="ellipse">
            <a:avLst/>
          </a:prstGeom>
          <a:solidFill>
            <a:srgbClr val="2F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3767328"/>
            <a:ext cx="24505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34D49"/>
                </a:solidFill>
                <a:latin typeface="Inter"/>
              </a:rPr>
              <a:t>Clickable reviews + rating</a:t>
            </a:r>
          </a:p>
        </p:txBody>
      </p:sp>
      <p:sp>
        <p:nvSpPr>
          <p:cNvPr id="20" name="Oval 19"/>
          <p:cNvSpPr/>
          <p:nvPr/>
        </p:nvSpPr>
        <p:spPr>
          <a:xfrm>
            <a:off x="877824" y="4288536"/>
            <a:ext cx="82296" cy="82296"/>
          </a:xfrm>
          <a:prstGeom prst="ellipse">
            <a:avLst/>
          </a:prstGeom>
          <a:solidFill>
            <a:srgbClr val="2F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4215384"/>
            <a:ext cx="24505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34D49"/>
                </a:solidFill>
                <a:latin typeface="Inter"/>
              </a:rPr>
              <a:t>Sticky pack / price CTA</a:t>
            </a:r>
          </a:p>
        </p:txBody>
      </p:sp>
      <p:sp>
        <p:nvSpPr>
          <p:cNvPr id="22" name="Oval 21"/>
          <p:cNvSpPr/>
          <p:nvPr/>
        </p:nvSpPr>
        <p:spPr>
          <a:xfrm>
            <a:off x="877824" y="4736592"/>
            <a:ext cx="82296" cy="82296"/>
          </a:xfrm>
          <a:prstGeom prst="ellipse">
            <a:avLst/>
          </a:prstGeom>
          <a:solidFill>
            <a:srgbClr val="2F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4663440"/>
            <a:ext cx="24505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34D49"/>
                </a:solidFill>
                <a:latin typeface="Inter"/>
              </a:rPr>
              <a:t>Traceability + lab reports</a:t>
            </a:r>
          </a:p>
        </p:txBody>
      </p:sp>
      <p:sp>
        <p:nvSpPr>
          <p:cNvPr id="24" name="Oval 23"/>
          <p:cNvSpPr/>
          <p:nvPr/>
        </p:nvSpPr>
        <p:spPr>
          <a:xfrm>
            <a:off x="877824" y="5184648"/>
            <a:ext cx="82296" cy="82296"/>
          </a:xfrm>
          <a:prstGeom prst="ellipse">
            <a:avLst/>
          </a:prstGeom>
          <a:solidFill>
            <a:srgbClr val="2F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5111496"/>
            <a:ext cx="24505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34D49"/>
                </a:solidFill>
                <a:latin typeface="Inter"/>
              </a:rPr>
              <a:t>Deep science library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87368" y="3081528"/>
            <a:ext cx="3072384" cy="2587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51959" y="3273552"/>
            <a:ext cx="1591056" cy="320040"/>
          </a:xfrm>
          <a:prstGeom prst="roundRect">
            <a:avLst/>
          </a:prstGeom>
          <a:solidFill>
            <a:srgbClr val="FCEEE8"/>
          </a:solidFill>
          <a:ln w="12700">
            <a:solidFill>
              <a:srgbClr val="FCE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59" y="3282696"/>
            <a:ext cx="159105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60" b="1" i="0">
                <a:solidFill>
                  <a:srgbClr val="BE4A42"/>
                </a:solidFill>
                <a:latin typeface="Inter"/>
              </a:rPr>
              <a:t>CURRENT FRICTION</a:t>
            </a:r>
          </a:p>
        </p:txBody>
      </p:sp>
      <p:sp>
        <p:nvSpPr>
          <p:cNvPr id="29" name="Oval 28"/>
          <p:cNvSpPr/>
          <p:nvPr/>
        </p:nvSpPr>
        <p:spPr>
          <a:xfrm>
            <a:off x="4288536" y="3840480"/>
            <a:ext cx="82296" cy="82296"/>
          </a:xfrm>
          <a:prstGeom prst="ellipse">
            <a:avLst/>
          </a:prstGeom>
          <a:solidFill>
            <a:srgbClr val="E2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59" y="3767328"/>
            <a:ext cx="24505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34D49"/>
                </a:solidFill>
                <a:latin typeface="Inter"/>
              </a:rPr>
              <a:t>Pack choice is quantity-led</a:t>
            </a:r>
          </a:p>
        </p:txBody>
      </p:sp>
      <p:sp>
        <p:nvSpPr>
          <p:cNvPr id="31" name="Oval 30"/>
          <p:cNvSpPr/>
          <p:nvPr/>
        </p:nvSpPr>
        <p:spPr>
          <a:xfrm>
            <a:off x="4288536" y="4288536"/>
            <a:ext cx="82296" cy="82296"/>
          </a:xfrm>
          <a:prstGeom prst="ellipse">
            <a:avLst/>
          </a:prstGeom>
          <a:solidFill>
            <a:srgbClr val="E2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59" y="4215384"/>
            <a:ext cx="24505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34D49"/>
                </a:solidFill>
                <a:latin typeface="Inter"/>
              </a:rPr>
              <a:t>Flat value across bundles</a:t>
            </a:r>
          </a:p>
        </p:txBody>
      </p:sp>
      <p:sp>
        <p:nvSpPr>
          <p:cNvPr id="33" name="Oval 32"/>
          <p:cNvSpPr/>
          <p:nvPr/>
        </p:nvSpPr>
        <p:spPr>
          <a:xfrm>
            <a:off x="4288536" y="4736592"/>
            <a:ext cx="82296" cy="82296"/>
          </a:xfrm>
          <a:prstGeom prst="ellipse">
            <a:avLst/>
          </a:prstGeom>
          <a:solidFill>
            <a:srgbClr val="E2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59" y="4663440"/>
            <a:ext cx="24505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34D49"/>
                </a:solidFill>
                <a:latin typeface="Inter"/>
              </a:rPr>
              <a:t>12-week use is disconnected from pack choice</a:t>
            </a:r>
          </a:p>
        </p:txBody>
      </p:sp>
      <p:sp>
        <p:nvSpPr>
          <p:cNvPr id="35" name="Oval 34"/>
          <p:cNvSpPr/>
          <p:nvPr/>
        </p:nvSpPr>
        <p:spPr>
          <a:xfrm>
            <a:off x="4288536" y="5184648"/>
            <a:ext cx="82296" cy="82296"/>
          </a:xfrm>
          <a:prstGeom prst="ellipse">
            <a:avLst/>
          </a:prstGeom>
          <a:solidFill>
            <a:srgbClr val="E2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59" y="5111496"/>
            <a:ext cx="24505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34D49"/>
                </a:solidFill>
                <a:latin typeface="Inter"/>
              </a:rPr>
              <a:t>Science is credible but dense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79" y="3081528"/>
            <a:ext cx="3072384" cy="2587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662671" y="3273552"/>
            <a:ext cx="1536192" cy="320040"/>
          </a:xfrm>
          <a:prstGeom prst="roundRect">
            <a:avLst/>
          </a:prstGeom>
          <a:solidFill>
            <a:srgbClr val="DAEFF0"/>
          </a:solidFill>
          <a:ln w="12700">
            <a:solidFill>
              <a:srgbClr val="DA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62671" y="3282696"/>
            <a:ext cx="15361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60" b="1" i="0">
                <a:solidFill>
                  <a:srgbClr val="0B3D3B"/>
                </a:solidFill>
                <a:latin typeface="Inter"/>
              </a:rPr>
              <a:t>CRO OPPORTUNITY</a:t>
            </a:r>
          </a:p>
        </p:txBody>
      </p:sp>
      <p:sp>
        <p:nvSpPr>
          <p:cNvPr id="40" name="Oval 39"/>
          <p:cNvSpPr/>
          <p:nvPr/>
        </p:nvSpPr>
        <p:spPr>
          <a:xfrm>
            <a:off x="7699248" y="3840480"/>
            <a:ext cx="82296" cy="82296"/>
          </a:xfrm>
          <a:prstGeom prst="ellipse">
            <a:avLst/>
          </a:prstGeom>
          <a:solidFill>
            <a:srgbClr val="185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91271" y="3767328"/>
            <a:ext cx="24505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34D49"/>
                </a:solidFill>
                <a:latin typeface="Inter"/>
              </a:rPr>
              <a:t>Frame packs as routines</a:t>
            </a:r>
          </a:p>
        </p:txBody>
      </p:sp>
      <p:sp>
        <p:nvSpPr>
          <p:cNvPr id="42" name="Oval 41"/>
          <p:cNvSpPr/>
          <p:nvPr/>
        </p:nvSpPr>
        <p:spPr>
          <a:xfrm>
            <a:off x="7699248" y="4288536"/>
            <a:ext cx="82296" cy="82296"/>
          </a:xfrm>
          <a:prstGeom prst="ellipse">
            <a:avLst/>
          </a:prstGeom>
          <a:solidFill>
            <a:srgbClr val="185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91271" y="4215384"/>
            <a:ext cx="24505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34D49"/>
                </a:solidFill>
                <a:latin typeface="Inter"/>
              </a:rPr>
              <a:t>Surface proof at purchase anxiety</a:t>
            </a:r>
          </a:p>
        </p:txBody>
      </p:sp>
      <p:sp>
        <p:nvSpPr>
          <p:cNvPr id="44" name="Oval 43"/>
          <p:cNvSpPr/>
          <p:nvPr/>
        </p:nvSpPr>
        <p:spPr>
          <a:xfrm>
            <a:off x="7699248" y="4736592"/>
            <a:ext cx="82296" cy="82296"/>
          </a:xfrm>
          <a:prstGeom prst="ellipse">
            <a:avLst/>
          </a:prstGeom>
          <a:solidFill>
            <a:srgbClr val="185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91271" y="4663440"/>
            <a:ext cx="24505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34D49"/>
                </a:solidFill>
                <a:latin typeface="Inter"/>
              </a:rPr>
              <a:t>Make science scannable</a:t>
            </a:r>
          </a:p>
        </p:txBody>
      </p:sp>
      <p:sp>
        <p:nvSpPr>
          <p:cNvPr id="46" name="Oval 45"/>
          <p:cNvSpPr/>
          <p:nvPr/>
        </p:nvSpPr>
        <p:spPr>
          <a:xfrm>
            <a:off x="7699248" y="5184648"/>
            <a:ext cx="82296" cy="82296"/>
          </a:xfrm>
          <a:prstGeom prst="ellipse">
            <a:avLst/>
          </a:prstGeom>
          <a:solidFill>
            <a:srgbClr val="185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91271" y="5111496"/>
            <a:ext cx="24505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34D49"/>
                </a:solidFill>
                <a:latin typeface="Inter"/>
              </a:rPr>
              <a:t>Keep real pricing; test incentives separately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6656" y="5833872"/>
            <a:ext cx="10716768" cy="475488"/>
          </a:xfrm>
          <a:prstGeom prst="roundRect">
            <a:avLst/>
          </a:prstGeom>
          <a:solidFill>
            <a:srgbClr val="0B3D3B"/>
          </a:solidFill>
          <a:ln w="12700">
            <a:solidFill>
              <a:srgbClr val="0B3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" y="5925312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70" b="1" i="0">
                <a:solidFill>
                  <a:srgbClr val="FFFFFF"/>
                </a:solidFill>
                <a:latin typeface="Inter Display"/>
              </a:rPr>
              <a:t>The page does not need more persuasion — it needs the right persuasion at the right moment.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B8C3BF"/>
                </a:solidFill>
                <a:latin typeface="Inter"/>
              </a:rPr>
              <a:t>RAHUL SINGH  ·  CRO CASE STUDY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2336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B8C3BF"/>
                </a:solidFill>
                <a:latin typeface="Inter"/>
              </a:rPr>
              <a:t>Source: Wellbeing Nutrition PDP capture + page content reviewed 23 Sep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92840" y="6483096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0B3D3B"/>
                </a:solidFill>
                <a:latin typeface="Inte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B3D3B"/>
                </a:solidFill>
                <a:latin typeface="Inter"/>
              </a:rPr>
              <a:t>CURRENT-STATE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50" b="1" i="0">
                <a:solidFill>
                  <a:srgbClr val="111F1D"/>
                </a:solidFill>
                <a:latin typeface="Inter Display"/>
              </a:rPr>
              <a:t>Preserve what works. Fix the decision architecture.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5726D"/>
                </a:solidFill>
                <a:latin typeface="Inter"/>
              </a:rPr>
              <a:t>A heuristic audit of the current PDP — not a redesign for redesign’s sake.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" y="1938528"/>
            <a:ext cx="45720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ellbeing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729" y="2103120"/>
            <a:ext cx="2518996" cy="349300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87552" y="5504688"/>
            <a:ext cx="3950208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ticky_cta.png"/>
          <p:cNvPicPr>
            <a:picLocks noChangeAspect="1"/>
          </p:cNvPicPr>
          <p:nvPr/>
        </p:nvPicPr>
        <p:blipFill>
          <a:blip r:embed="rId3"/>
          <a:srcRect t="36352" b="36352"/>
          <a:stretch>
            <a:fillRect/>
          </a:stretch>
        </p:blipFill>
        <p:spPr>
          <a:xfrm>
            <a:off x="1024128" y="5541264"/>
            <a:ext cx="3877056" cy="420624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632704" y="2057400"/>
            <a:ext cx="310896" cy="310896"/>
          </a:xfrm>
          <a:prstGeom prst="ellipse">
            <a:avLst/>
          </a:prstGeom>
          <a:solidFill>
            <a:srgbClr val="2F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32704" y="2061972"/>
            <a:ext cx="31089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62472" y="2029968"/>
            <a:ext cx="658368" cy="32004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E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62472" y="2039112"/>
            <a:ext cx="65836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F855B"/>
                </a:solidFill>
                <a:latin typeface="Inter"/>
              </a:rPr>
              <a:t>KEEP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9712" y="2020824"/>
            <a:ext cx="427939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 i="0">
                <a:solidFill>
                  <a:srgbClr val="434D49"/>
                </a:solidFill>
                <a:latin typeface="Inter"/>
              </a:rPr>
              <a:t>Clickable reviews are already visible near the product title.</a:t>
            </a:r>
          </a:p>
        </p:txBody>
      </p:sp>
      <p:sp>
        <p:nvSpPr>
          <p:cNvPr id="15" name="Oval 14"/>
          <p:cNvSpPr/>
          <p:nvPr/>
        </p:nvSpPr>
        <p:spPr>
          <a:xfrm>
            <a:off x="5632704" y="2807208"/>
            <a:ext cx="310896" cy="310896"/>
          </a:xfrm>
          <a:prstGeom prst="ellipse">
            <a:avLst/>
          </a:prstGeom>
          <a:solidFill>
            <a:srgbClr val="2F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32704" y="2811779"/>
            <a:ext cx="31089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62472" y="2779776"/>
            <a:ext cx="658368" cy="32004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E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62472" y="2788920"/>
            <a:ext cx="65836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F855B"/>
                </a:solidFill>
                <a:latin typeface="Inter"/>
              </a:rPr>
              <a:t>KEEP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9712" y="2770632"/>
            <a:ext cx="427939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 i="0">
                <a:solidFill>
                  <a:srgbClr val="434D49"/>
                </a:solidFill>
                <a:latin typeface="Inter"/>
              </a:rPr>
              <a:t>Sticky pack / pricing CTA persists while users scroll.</a:t>
            </a:r>
          </a:p>
        </p:txBody>
      </p:sp>
      <p:sp>
        <p:nvSpPr>
          <p:cNvPr id="20" name="Oval 19"/>
          <p:cNvSpPr/>
          <p:nvPr/>
        </p:nvSpPr>
        <p:spPr>
          <a:xfrm>
            <a:off x="5632704" y="3557015"/>
            <a:ext cx="310896" cy="310896"/>
          </a:xfrm>
          <a:prstGeom prst="ellipse">
            <a:avLst/>
          </a:prstGeom>
          <a:solidFill>
            <a:srgbClr val="E2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32704" y="3561587"/>
            <a:ext cx="31089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62472" y="3529584"/>
            <a:ext cx="658368" cy="320040"/>
          </a:xfrm>
          <a:prstGeom prst="roundRect">
            <a:avLst/>
          </a:prstGeom>
          <a:solidFill>
            <a:srgbClr val="FCEEE8"/>
          </a:solidFill>
          <a:ln w="12700">
            <a:solidFill>
              <a:srgbClr val="FCE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62472" y="3538727"/>
            <a:ext cx="65836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BE4A42"/>
                </a:solidFill>
                <a:latin typeface="Inter"/>
              </a:rPr>
              <a:t>IMPROVE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520440"/>
            <a:ext cx="427939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 i="0">
                <a:solidFill>
                  <a:srgbClr val="434D49"/>
                </a:solidFill>
                <a:latin typeface="Inter"/>
              </a:rPr>
              <a:t>Pack selector communicates quantity — not the routine it enables.</a:t>
            </a:r>
          </a:p>
        </p:txBody>
      </p:sp>
      <p:sp>
        <p:nvSpPr>
          <p:cNvPr id="25" name="Oval 24"/>
          <p:cNvSpPr/>
          <p:nvPr/>
        </p:nvSpPr>
        <p:spPr>
          <a:xfrm>
            <a:off x="5632704" y="4306824"/>
            <a:ext cx="310896" cy="310896"/>
          </a:xfrm>
          <a:prstGeom prst="ellipse">
            <a:avLst/>
          </a:prstGeom>
          <a:solidFill>
            <a:srgbClr val="E2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32704" y="4311396"/>
            <a:ext cx="31089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62472" y="4279392"/>
            <a:ext cx="658368" cy="320040"/>
          </a:xfrm>
          <a:prstGeom prst="roundRect">
            <a:avLst/>
          </a:prstGeom>
          <a:solidFill>
            <a:srgbClr val="FCEEE8"/>
          </a:solidFill>
          <a:ln w="12700">
            <a:solidFill>
              <a:srgbClr val="FCE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62472" y="4288536"/>
            <a:ext cx="65836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BE4A42"/>
                </a:solidFill>
                <a:latin typeface="Inter"/>
              </a:rPr>
              <a:t>IMPROVE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4270248"/>
            <a:ext cx="427939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 i="0">
                <a:solidFill>
                  <a:srgbClr val="434D49"/>
                </a:solidFill>
                <a:latin typeface="Inter"/>
              </a:rPr>
              <a:t>Each quantity is ~20% off, so larger packs lack incremental value.</a:t>
            </a:r>
          </a:p>
        </p:txBody>
      </p:sp>
      <p:sp>
        <p:nvSpPr>
          <p:cNvPr id="30" name="Oval 29"/>
          <p:cNvSpPr/>
          <p:nvPr/>
        </p:nvSpPr>
        <p:spPr>
          <a:xfrm>
            <a:off x="5632704" y="5056632"/>
            <a:ext cx="310896" cy="310896"/>
          </a:xfrm>
          <a:prstGeom prst="ellipse">
            <a:avLst/>
          </a:prstGeom>
          <a:solidFill>
            <a:srgbClr val="E2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32704" y="5061204"/>
            <a:ext cx="31089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62472" y="5029200"/>
            <a:ext cx="658368" cy="320040"/>
          </a:xfrm>
          <a:prstGeom prst="roundRect">
            <a:avLst/>
          </a:prstGeom>
          <a:solidFill>
            <a:srgbClr val="FCEEE8"/>
          </a:solidFill>
          <a:ln w="12700">
            <a:solidFill>
              <a:srgbClr val="FCE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62472" y="5038344"/>
            <a:ext cx="65836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BE4A42"/>
                </a:solidFill>
                <a:latin typeface="Inter"/>
              </a:rPr>
              <a:t>IMPROVE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5020056"/>
            <a:ext cx="427939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 i="0">
                <a:solidFill>
                  <a:srgbClr val="434D49"/>
                </a:solidFill>
                <a:latin typeface="Inter"/>
              </a:rPr>
              <a:t>The 12-week use story appears away from the pack decision.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32704" y="5843016"/>
            <a:ext cx="5486400" cy="420624"/>
          </a:xfrm>
          <a:prstGeom prst="roundRect">
            <a:avLst/>
          </a:prstGeom>
          <a:solidFill>
            <a:srgbClr val="E4F2ED"/>
          </a:solidFill>
          <a:ln w="12700">
            <a:solidFill>
              <a:srgbClr val="E4F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33872" y="594360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0B3D3B"/>
                </a:solidFill>
                <a:latin typeface="Inter"/>
              </a:rPr>
              <a:t>Audit snapshot shows “Only 32 left” — useful, credible scarcity worth preserving.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B8C3BF"/>
                </a:solidFill>
                <a:latin typeface="Inter"/>
              </a:rPr>
              <a:t>RAHUL SINGH  ·  CRO CASE STUDY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B8C3BF"/>
                </a:solidFill>
                <a:latin typeface="Inter"/>
              </a:rPr>
              <a:t>Screenshots: current Wellbeing Nutrition PDP supplied for the case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83096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0B3D3B"/>
                </a:solidFill>
                <a:latin typeface="Inter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B3D3B"/>
                </a:solidFill>
                <a:latin typeface="Inter"/>
              </a:rPr>
              <a:t>COMPETITIVE INSPIRATION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50" b="1" i="0">
                <a:solidFill>
                  <a:srgbClr val="111F1D"/>
                </a:solidFill>
                <a:latin typeface="Inter Display"/>
              </a:rPr>
              <a:t>Borrow behaviour patterns — not visual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5726D"/>
                </a:solidFill>
                <a:latin typeface="Inter"/>
              </a:rPr>
              <a:t>Two relevant PDPs show how regimen framing and conversion reassurance can be merchandised more clearly.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" y="1938528"/>
            <a:ext cx="5175504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7824" y="2139696"/>
            <a:ext cx="658368" cy="320040"/>
          </a:xfrm>
          <a:prstGeom prst="roundRect">
            <a:avLst/>
          </a:prstGeom>
          <a:solidFill>
            <a:srgbClr val="E8F7E8"/>
          </a:solidFill>
          <a:ln w="12700">
            <a:solidFill>
              <a:srgbClr val="E8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48839"/>
            <a:ext cx="65836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F855B"/>
                </a:solidFill>
                <a:latin typeface="Inter"/>
              </a:rPr>
              <a:t>OZIVA</a:t>
            </a:r>
          </a:p>
        </p:txBody>
      </p:sp>
      <p:pic>
        <p:nvPicPr>
          <p:cNvPr id="9" name="Picture 8" descr="oz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844185"/>
            <a:ext cx="2121408" cy="24040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182112" y="2633472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0B3D3B"/>
                </a:solidFill>
                <a:latin typeface="Inter"/>
              </a:rPr>
              <a:t>Useful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2898648"/>
            <a:ext cx="1965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11F1D"/>
                </a:solidFill>
                <a:latin typeface="Inter Display"/>
              </a:rPr>
              <a:t>Regimen-led packs</a:t>
            </a:r>
          </a:p>
        </p:txBody>
      </p:sp>
      <p:sp>
        <p:nvSpPr>
          <p:cNvPr id="12" name="Oval 11"/>
          <p:cNvSpPr/>
          <p:nvPr/>
        </p:nvSpPr>
        <p:spPr>
          <a:xfrm>
            <a:off x="3182112" y="3456432"/>
            <a:ext cx="73152" cy="73152"/>
          </a:xfrm>
          <a:prstGeom prst="ellipse">
            <a:avLst/>
          </a:prstGeom>
          <a:solidFill>
            <a:srgbClr val="0B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46704" y="3364992"/>
            <a:ext cx="1801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 i="0">
                <a:solidFill>
                  <a:srgbClr val="111F1D"/>
                </a:solidFill>
                <a:latin typeface="Inter"/>
              </a:rPr>
              <a:t>Starter → Progress → Results</a:t>
            </a:r>
          </a:p>
        </p:txBody>
      </p:sp>
      <p:sp>
        <p:nvSpPr>
          <p:cNvPr id="14" name="Oval 13"/>
          <p:cNvSpPr/>
          <p:nvPr/>
        </p:nvSpPr>
        <p:spPr>
          <a:xfrm>
            <a:off x="3182112" y="3877055"/>
            <a:ext cx="73152" cy="73152"/>
          </a:xfrm>
          <a:prstGeom prst="ellipse">
            <a:avLst/>
          </a:prstGeom>
          <a:solidFill>
            <a:srgbClr val="0B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6704" y="3785615"/>
            <a:ext cx="1801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 i="0">
                <a:solidFill>
                  <a:srgbClr val="111F1D"/>
                </a:solidFill>
                <a:latin typeface="Inter"/>
              </a:rPr>
              <a:t>Duration is visible at selection</a:t>
            </a:r>
          </a:p>
        </p:txBody>
      </p:sp>
      <p:sp>
        <p:nvSpPr>
          <p:cNvPr id="16" name="Oval 15"/>
          <p:cNvSpPr/>
          <p:nvPr/>
        </p:nvSpPr>
        <p:spPr>
          <a:xfrm>
            <a:off x="3182112" y="4297679"/>
            <a:ext cx="73152" cy="73152"/>
          </a:xfrm>
          <a:prstGeom prst="ellipse">
            <a:avLst/>
          </a:prstGeom>
          <a:solidFill>
            <a:srgbClr val="0B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46704" y="4206240"/>
            <a:ext cx="1801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 i="0">
                <a:solidFill>
                  <a:srgbClr val="111F1D"/>
                </a:solidFill>
                <a:latin typeface="Inter"/>
              </a:rPr>
              <a:t>Savings escalate with commitment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82112" y="4791456"/>
            <a:ext cx="2048256" cy="822960"/>
          </a:xfrm>
          <a:prstGeom prst="roundRect">
            <a:avLst/>
          </a:prstGeom>
          <a:solidFill>
            <a:srgbClr val="E4F2ED"/>
          </a:solidFill>
          <a:ln w="12700">
            <a:solidFill>
              <a:srgbClr val="E4F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64992" y="4937760"/>
            <a:ext cx="16642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30" b="1" i="0">
                <a:solidFill>
                  <a:srgbClr val="0B3D3B"/>
                </a:solidFill>
                <a:latin typeface="Inter"/>
              </a:rPr>
              <a:t>What we borrow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2" y="5175504"/>
            <a:ext cx="16824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1" i="0">
                <a:solidFill>
                  <a:srgbClr val="111F1D"/>
                </a:solidFill>
                <a:latin typeface="Inter"/>
              </a:rPr>
              <a:t>Help users choose a commitment window, not a tub count.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1938528"/>
            <a:ext cx="51663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27648" y="2139696"/>
            <a:ext cx="896112" cy="320040"/>
          </a:xfrm>
          <a:prstGeom prst="roundRect">
            <a:avLst/>
          </a:prstGeom>
          <a:solidFill>
            <a:srgbClr val="E3EFF7"/>
          </a:solidFill>
          <a:ln w="12700">
            <a:solidFill>
              <a:srgbClr val="E3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2148839"/>
            <a:ext cx="89611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B3D3B"/>
                </a:solidFill>
                <a:latin typeface="Inter"/>
              </a:rPr>
              <a:t>HK VITALS</a:t>
            </a:r>
          </a:p>
        </p:txBody>
      </p:sp>
      <p:pic>
        <p:nvPicPr>
          <p:cNvPr id="24" name="Picture 23" descr="hkvit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697036"/>
            <a:ext cx="2212848" cy="269836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732520" y="2633472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0B3D3B"/>
                </a:solidFill>
                <a:latin typeface="Inter"/>
              </a:rPr>
              <a:t>Useful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2898648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11F1D"/>
                </a:solidFill>
                <a:latin typeface="Inter Display"/>
              </a:rPr>
              <a:t>Reassurance near CTA</a:t>
            </a:r>
          </a:p>
        </p:txBody>
      </p:sp>
      <p:sp>
        <p:nvSpPr>
          <p:cNvPr id="27" name="Oval 26"/>
          <p:cNvSpPr/>
          <p:nvPr/>
        </p:nvSpPr>
        <p:spPr>
          <a:xfrm>
            <a:off x="8732520" y="3456432"/>
            <a:ext cx="73152" cy="73152"/>
          </a:xfrm>
          <a:prstGeom prst="ellipse">
            <a:avLst/>
          </a:prstGeom>
          <a:solidFill>
            <a:srgbClr val="0B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97112" y="3364992"/>
            <a:ext cx="1801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 i="0">
                <a:solidFill>
                  <a:srgbClr val="111F1D"/>
                </a:solidFill>
                <a:latin typeface="Inter"/>
              </a:rPr>
              <a:t>Delivery expectation near purchase</a:t>
            </a:r>
          </a:p>
        </p:txBody>
      </p:sp>
      <p:sp>
        <p:nvSpPr>
          <p:cNvPr id="29" name="Oval 28"/>
          <p:cNvSpPr/>
          <p:nvPr/>
        </p:nvSpPr>
        <p:spPr>
          <a:xfrm>
            <a:off x="8732520" y="3877055"/>
            <a:ext cx="73152" cy="73152"/>
          </a:xfrm>
          <a:prstGeom prst="ellipse">
            <a:avLst/>
          </a:prstGeom>
          <a:solidFill>
            <a:srgbClr val="0B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97112" y="3785615"/>
            <a:ext cx="1801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 i="0">
                <a:solidFill>
                  <a:srgbClr val="111F1D"/>
                </a:solidFill>
                <a:latin typeface="Inter"/>
              </a:rPr>
              <a:t>Offers consolidated into one module</a:t>
            </a:r>
          </a:p>
        </p:txBody>
      </p:sp>
      <p:sp>
        <p:nvSpPr>
          <p:cNvPr id="31" name="Oval 30"/>
          <p:cNvSpPr/>
          <p:nvPr/>
        </p:nvSpPr>
        <p:spPr>
          <a:xfrm>
            <a:off x="8732520" y="4297679"/>
            <a:ext cx="73152" cy="73152"/>
          </a:xfrm>
          <a:prstGeom prst="ellipse">
            <a:avLst/>
          </a:prstGeom>
          <a:solidFill>
            <a:srgbClr val="0B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97112" y="4206240"/>
            <a:ext cx="1801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 i="0">
                <a:solidFill>
                  <a:srgbClr val="111F1D"/>
                </a:solidFill>
                <a:latin typeface="Inter"/>
              </a:rPr>
              <a:t>Science broken into scannable cards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32520" y="4791456"/>
            <a:ext cx="2057400" cy="822960"/>
          </a:xfrm>
          <a:prstGeom prst="roundRect">
            <a:avLst/>
          </a:prstGeom>
          <a:solidFill>
            <a:srgbClr val="DAEFF0"/>
          </a:solidFill>
          <a:ln w="12700">
            <a:solidFill>
              <a:srgbClr val="DA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4937760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30" b="1" i="0">
                <a:solidFill>
                  <a:srgbClr val="0B3D3B"/>
                </a:solidFill>
                <a:latin typeface="Inter"/>
              </a:rPr>
              <a:t>What we borrow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5175504"/>
            <a:ext cx="16824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1" i="0">
                <a:solidFill>
                  <a:srgbClr val="111F1D"/>
                </a:solidFill>
                <a:latin typeface="Inter"/>
              </a:rPr>
              <a:t>Answer transactional anxiety where it occurs.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B8C3BF"/>
                </a:solidFill>
                <a:latin typeface="Inter"/>
              </a:rPr>
              <a:t>RAHUL SINGH  ·  CRO CASE STUDY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2336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B8C3BF"/>
                </a:solidFill>
                <a:latin typeface="Inter"/>
              </a:rPr>
              <a:t>Reference screenshots: OZiva + HK Vitals PDPs supplied for benchmarking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83096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0B3D3B"/>
                </a:solidFill>
                <a:latin typeface="Inter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B3D3B"/>
                </a:solidFill>
                <a:latin typeface="Inter"/>
              </a:rPr>
              <a:t>HERO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50" b="1" i="0">
                <a:solidFill>
                  <a:srgbClr val="111F1D"/>
                </a:solidFill>
                <a:latin typeface="Inter Display"/>
              </a:rPr>
              <a:t>Sell the routine — not the tub.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5726D"/>
                </a:solidFill>
                <a:latin typeface="Inter"/>
              </a:rPr>
              <a:t>Reframe quantity into a consistency decision using the product’s actual serving size and 12-week use window.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" y="1975104"/>
            <a:ext cx="2788920" cy="3639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2194560"/>
            <a:ext cx="713232" cy="320040"/>
          </a:xfrm>
          <a:prstGeom prst="roundRect">
            <a:avLst/>
          </a:prstGeom>
          <a:solidFill>
            <a:srgbClr val="F1F3F2"/>
          </a:solidFill>
          <a:ln w="12700">
            <a:solidFill>
              <a:srgbClr val="F1F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03703"/>
            <a:ext cx="71323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30" b="1" i="0">
                <a:solidFill>
                  <a:srgbClr val="65726D"/>
                </a:solidFill>
                <a:latin typeface="Inter"/>
              </a:rPr>
              <a:t>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51760"/>
            <a:ext cx="22494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11F1D"/>
                </a:solidFill>
                <a:latin typeface="Inter Display"/>
              </a:rPr>
              <a:t>“How many tubs do I want?”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3401568"/>
            <a:ext cx="941832" cy="713232"/>
          </a:xfrm>
          <a:prstGeom prst="roundRect">
            <a:avLst/>
          </a:prstGeom>
          <a:solidFill>
            <a:srgbClr val="FAFBFA"/>
          </a:solidFill>
          <a:ln w="1270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493008"/>
            <a:ext cx="9418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65726D"/>
                </a:solidFill>
                <a:latin typeface="Inter"/>
              </a:rPr>
              <a:t>Pack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712464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0" b="1" i="0">
                <a:solidFill>
                  <a:srgbClr val="111F1D"/>
                </a:solidFill>
                <a:latin typeface="Inter"/>
              </a:rPr>
              <a:t>₹1,439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75104" y="3401568"/>
            <a:ext cx="941832" cy="713232"/>
          </a:xfrm>
          <a:prstGeom prst="roundRect">
            <a:avLst/>
          </a:prstGeom>
          <a:solidFill>
            <a:srgbClr val="FAFBFA"/>
          </a:solidFill>
          <a:ln w="1270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75104" y="3493008"/>
            <a:ext cx="9418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65726D"/>
                </a:solidFill>
                <a:latin typeface="Inter"/>
              </a:rPr>
              <a:t>Pack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75104" y="3712464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0" b="1" i="0">
                <a:solidFill>
                  <a:srgbClr val="111F1D"/>
                </a:solidFill>
                <a:latin typeface="Inter"/>
              </a:rPr>
              <a:t>₹2,878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" y="4279392"/>
            <a:ext cx="941832" cy="713232"/>
          </a:xfrm>
          <a:prstGeom prst="roundRect">
            <a:avLst/>
          </a:prstGeom>
          <a:solidFill>
            <a:srgbClr val="FAFBFA"/>
          </a:solidFill>
          <a:ln w="1270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370831"/>
            <a:ext cx="9418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65726D"/>
                </a:solidFill>
                <a:latin typeface="Inter"/>
              </a:rPr>
              <a:t>Pack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590288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0" b="1" i="0">
                <a:solidFill>
                  <a:srgbClr val="111F1D"/>
                </a:solidFill>
                <a:latin typeface="Inter"/>
              </a:rPr>
              <a:t>₹4,318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75104" y="4279392"/>
            <a:ext cx="941832" cy="713232"/>
          </a:xfrm>
          <a:prstGeom prst="roundRect">
            <a:avLst/>
          </a:prstGeom>
          <a:solidFill>
            <a:srgbClr val="FAFBFA"/>
          </a:solidFill>
          <a:ln w="1270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75104" y="4370831"/>
            <a:ext cx="9418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65726D"/>
                </a:solidFill>
                <a:latin typeface="Inter"/>
              </a:rPr>
              <a:t>Pack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75104" y="4590288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0" b="1" i="0">
                <a:solidFill>
                  <a:srgbClr val="111F1D"/>
                </a:solidFill>
                <a:latin typeface="Inter"/>
              </a:rPr>
              <a:t>₹5,757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5221224"/>
            <a:ext cx="22128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30" b="1" i="0">
                <a:solidFill>
                  <a:srgbClr val="BE4A42"/>
                </a:solidFill>
                <a:latin typeface="Inter"/>
              </a:rPr>
              <a:t>≈20% off across every quantity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30752" y="3328416"/>
            <a:ext cx="4937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900" b="1" i="0">
                <a:solidFill>
                  <a:srgbClr val="0B3D3B"/>
                </a:solidFill>
                <a:latin typeface="Inter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75887" y="3959352"/>
            <a:ext cx="658368" cy="969264"/>
          </a:xfrm>
          <a:prstGeom prst="roundRect">
            <a:avLst/>
          </a:prstGeom>
          <a:solidFill>
            <a:srgbClr val="E4F2ED"/>
          </a:solidFill>
          <a:ln w="12700">
            <a:solidFill>
              <a:srgbClr val="E4F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21608" y="4151376"/>
            <a:ext cx="576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B3D3B"/>
                </a:solidFill>
                <a:latin typeface="Inter"/>
              </a:rPr>
              <a:t>200g ÷
8g/day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53712" y="1975104"/>
            <a:ext cx="6748272" cy="3639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73168" y="2194560"/>
            <a:ext cx="841248" cy="320040"/>
          </a:xfrm>
          <a:prstGeom prst="roundRect">
            <a:avLst/>
          </a:prstGeom>
          <a:solidFill>
            <a:srgbClr val="E4F2ED"/>
          </a:solidFill>
          <a:ln w="12700">
            <a:solidFill>
              <a:srgbClr val="E4F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73168" y="2203703"/>
            <a:ext cx="84124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30" b="1" i="0">
                <a:solidFill>
                  <a:srgbClr val="0B3D3B"/>
                </a:solidFill>
                <a:latin typeface="Inter"/>
              </a:rPr>
              <a:t>PROPOSED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3168" y="2651760"/>
            <a:ext cx="58887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11F1D"/>
                </a:solidFill>
                <a:latin typeface="Inter Display"/>
              </a:rPr>
              <a:t>“How long do I want to stay consistent?”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73168" y="3300984"/>
            <a:ext cx="1435608" cy="1691640"/>
          </a:xfrm>
          <a:prstGeom prst="roundRect">
            <a:avLst/>
          </a:prstGeom>
          <a:solidFill>
            <a:srgbClr val="FBFCFB"/>
          </a:solidFill>
          <a:ln w="1270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64607" y="3511296"/>
            <a:ext cx="12527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" b="1" i="0">
                <a:solidFill>
                  <a:srgbClr val="65726D"/>
                </a:solidFill>
                <a:latin typeface="Inter"/>
              </a:rPr>
              <a:t>STARTER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64607" y="4087368"/>
            <a:ext cx="12527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11F1D"/>
                </a:solidFill>
                <a:latin typeface="Inter Display"/>
              </a:rPr>
              <a:t>~25 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4407408"/>
            <a:ext cx="12893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0" i="0">
                <a:solidFill>
                  <a:srgbClr val="434D49"/>
                </a:solidFill>
                <a:latin typeface="Inter"/>
              </a:rPr>
              <a:t>1 tub  ·  ₹1,439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64224" y="3300984"/>
            <a:ext cx="1435608" cy="1691640"/>
          </a:xfrm>
          <a:prstGeom prst="roundRect">
            <a:avLst/>
          </a:prstGeom>
          <a:solidFill>
            <a:srgbClr val="FBFCFB"/>
          </a:solidFill>
          <a:ln w="1270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55664" y="3511296"/>
            <a:ext cx="12527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" b="1" i="0">
                <a:solidFill>
                  <a:srgbClr val="65726D"/>
                </a:solidFill>
                <a:latin typeface="Inter"/>
              </a:rPr>
              <a:t>BUILD THE ROUTINE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4087368"/>
            <a:ext cx="12527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11F1D"/>
                </a:solidFill>
                <a:latin typeface="Inter Display"/>
              </a:rPr>
              <a:t>~50 days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7376" y="4407408"/>
            <a:ext cx="12893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0" i="0">
                <a:solidFill>
                  <a:srgbClr val="434D49"/>
                </a:solidFill>
                <a:latin typeface="Inter"/>
              </a:rPr>
              <a:t>2 tubs  ·  ₹2,878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55279" y="3300984"/>
            <a:ext cx="1435608" cy="1691640"/>
          </a:xfrm>
          <a:prstGeom prst="roundRect">
            <a:avLst/>
          </a:prstGeom>
          <a:solidFill>
            <a:srgbClr val="FBFCFB"/>
          </a:solidFill>
          <a:ln w="1270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19" y="3511296"/>
            <a:ext cx="12527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" b="1" i="0">
                <a:solidFill>
                  <a:srgbClr val="65726D"/>
                </a:solidFill>
                <a:latin typeface="Inter"/>
              </a:rPr>
              <a:t>CONSISTENCY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19" y="4087368"/>
            <a:ext cx="12527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11F1D"/>
                </a:solidFill>
                <a:latin typeface="Inter Display"/>
              </a:rPr>
              <a:t>~75 days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28431" y="4407408"/>
            <a:ext cx="12893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0" i="0">
                <a:solidFill>
                  <a:srgbClr val="434D49"/>
                </a:solidFill>
                <a:latin typeface="Inter"/>
              </a:rPr>
              <a:t>3 tubs  ·  ₹4,318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46336" y="3300984"/>
            <a:ext cx="1435608" cy="1691640"/>
          </a:xfrm>
          <a:prstGeom prst="roundRect">
            <a:avLst/>
          </a:prstGeom>
          <a:solidFill>
            <a:srgbClr val="F2F9F6"/>
          </a:solidFill>
          <a:ln w="25400">
            <a:solidFill>
              <a:srgbClr val="0B3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656063" y="3419856"/>
            <a:ext cx="1207008" cy="320040"/>
          </a:xfrm>
          <a:prstGeom prst="roundRect">
            <a:avLst/>
          </a:prstGeom>
          <a:solidFill>
            <a:srgbClr val="0B3D3B"/>
          </a:solidFill>
          <a:ln w="12700">
            <a:solidFill>
              <a:srgbClr val="0B3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56063" y="3429000"/>
            <a:ext cx="12070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 i="0">
                <a:solidFill>
                  <a:srgbClr val="FFFFFF"/>
                </a:solidFill>
                <a:latin typeface="Inter"/>
              </a:rPr>
              <a:t>COVERS 12 WKS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37776" y="3730752"/>
            <a:ext cx="12527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" b="1" i="0">
                <a:solidFill>
                  <a:srgbClr val="0B3D3B"/>
                </a:solidFill>
                <a:latin typeface="Inter"/>
              </a:rPr>
              <a:t>12-WEEK ROUTINE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37776" y="4087368"/>
            <a:ext cx="12527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11F1D"/>
                </a:solidFill>
                <a:latin typeface="Inter Display"/>
              </a:rPr>
              <a:t>~100 days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19488" y="4407408"/>
            <a:ext cx="12893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0" i="0">
                <a:solidFill>
                  <a:srgbClr val="434D49"/>
                </a:solidFill>
                <a:latin typeface="Inter"/>
              </a:rPr>
              <a:t>4 tubs  ·  ₹5,757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37776" y="4727448"/>
            <a:ext cx="1252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0B3D3B"/>
                </a:solidFill>
                <a:latin typeface="Inter"/>
              </a:rPr>
              <a:t>Recommended for 12-week use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76656" y="5797296"/>
            <a:ext cx="10625328" cy="475488"/>
          </a:xfrm>
          <a:prstGeom prst="roundRect">
            <a:avLst/>
          </a:prstGeom>
          <a:solidFill>
            <a:srgbClr val="0B3D3B"/>
          </a:solidFill>
          <a:ln w="12700">
            <a:solidFill>
              <a:srgbClr val="0B3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6112" y="5907024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 i="0">
                <a:solidFill>
                  <a:srgbClr val="FFFFFF"/>
                </a:solidFill>
                <a:latin typeface="Inter"/>
              </a:rPr>
              <a:t>Rational upsell: the 4-pack covers ~100 daily servings, enough to span an 84-day / 12-week routine.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B8C3BF"/>
                </a:solidFill>
                <a:latin typeface="Inter"/>
              </a:rPr>
              <a:t>RAHUL SINGH  ·  CRO CASE STUDY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2336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B8C3BF"/>
                </a:solidFill>
                <a:latin typeface="Inter"/>
              </a:rPr>
              <a:t>Pack math uses 200g tub ÷ 8g serving = 25 servings per tub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92840" y="6483096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0B3D3B"/>
                </a:solidFill>
                <a:latin typeface="Inter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B3D3B"/>
                </a:solidFill>
                <a:latin typeface="Inter"/>
              </a:rPr>
              <a:t>PROPOSED PURCHASE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50" b="1" i="0">
                <a:solidFill>
                  <a:srgbClr val="111F1D"/>
                </a:solidFill>
                <a:latin typeface="Inter Display"/>
              </a:rPr>
              <a:t>Keep the brand. Reduce cognitive load.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5726D"/>
                </a:solidFill>
                <a:latin typeface="Inter"/>
              </a:rPr>
              <a:t>A high-fidelity CRO concept for the above-the-fold purchase module — designed to feel native to Wellbeing Nutrition.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" y="1856231"/>
            <a:ext cx="7708392" cy="4325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" y="1856231"/>
            <a:ext cx="7708392" cy="274320"/>
          </a:xfrm>
          <a:prstGeom prst="rect">
            <a:avLst/>
          </a:prstGeom>
          <a:solidFill>
            <a:srgbClr val="F4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1938528"/>
            <a:ext cx="54864" cy="54864"/>
          </a:xfrm>
          <a:prstGeom prst="ellipse">
            <a:avLst/>
          </a:prstGeom>
          <a:solidFill>
            <a:srgbClr val="B8C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1938528"/>
            <a:ext cx="54864" cy="54864"/>
          </a:xfrm>
          <a:prstGeom prst="ellipse">
            <a:avLst/>
          </a:prstGeom>
          <a:solidFill>
            <a:srgbClr val="B8C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1938528"/>
            <a:ext cx="54864" cy="54864"/>
          </a:xfrm>
          <a:prstGeom prst="ellipse">
            <a:avLst/>
          </a:prstGeom>
          <a:solidFill>
            <a:srgbClr val="B8C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2359152"/>
            <a:ext cx="2816352" cy="3438144"/>
          </a:xfrm>
          <a:prstGeom prst="roundRect">
            <a:avLst/>
          </a:prstGeom>
          <a:solidFill>
            <a:srgbClr val="F3F9F7"/>
          </a:solidFill>
          <a:ln w="12700">
            <a:solidFill>
              <a:srgbClr val="F3F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roduc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742" y="2670048"/>
            <a:ext cx="1820227" cy="166420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408176" y="4599432"/>
            <a:ext cx="107899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08176" y="4608576"/>
            <a:ext cx="10789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30" b="1" i="0">
                <a:solidFill>
                  <a:srgbClr val="0B3D3B"/>
                </a:solidFill>
                <a:latin typeface="Inter"/>
              </a:rPr>
              <a:t>UNFLAVOURED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96896" y="4599432"/>
            <a:ext cx="603504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4608576"/>
            <a:ext cx="60350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30" b="1" i="0">
                <a:solidFill>
                  <a:srgbClr val="0B3D3B"/>
                </a:solidFill>
                <a:latin typeface="Inter"/>
              </a:rPr>
              <a:t>200g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5138928"/>
            <a:ext cx="22677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9" b="1" i="0">
                <a:solidFill>
                  <a:srgbClr val="65726D"/>
                </a:solidFill>
                <a:latin typeface="Inter"/>
              </a:rPr>
              <a:t>Deep-sea sourced  ·  lab tested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304288"/>
            <a:ext cx="39136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70" b="1" i="0">
                <a:solidFill>
                  <a:srgbClr val="111F1D"/>
                </a:solidFill>
                <a:latin typeface="Inter Display"/>
              </a:rPr>
              <a:t>Pure Korean Marine Collagen Peptides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688336"/>
            <a:ext cx="20482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0B3D3B"/>
                </a:solidFill>
                <a:latin typeface="Inter"/>
              </a:rPr>
              <a:t>★★★★★  571 reviews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953512"/>
            <a:ext cx="367588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 i="0">
                <a:solidFill>
                  <a:srgbClr val="434D49"/>
                </a:solidFill>
                <a:latin typeface="Inter"/>
              </a:rPr>
              <a:t>Supports hydrated, firmer-looking skin from within.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3374136"/>
            <a:ext cx="886968" cy="320040"/>
          </a:xfrm>
          <a:prstGeom prst="roundRect">
            <a:avLst/>
          </a:prstGeom>
          <a:solidFill>
            <a:srgbClr val="E4F2ED"/>
          </a:solidFill>
          <a:ln w="12700">
            <a:solidFill>
              <a:srgbClr val="E4F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3383279"/>
            <a:ext cx="88696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70" b="1" i="0">
                <a:solidFill>
                  <a:srgbClr val="0B3D3B"/>
                </a:solidFill>
                <a:latin typeface="Inter"/>
              </a:rPr>
              <a:t>8g / serving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10327" y="3374136"/>
            <a:ext cx="822960" cy="320040"/>
          </a:xfrm>
          <a:prstGeom prst="roundRect">
            <a:avLst/>
          </a:prstGeom>
          <a:solidFill>
            <a:srgbClr val="E4F2ED"/>
          </a:solidFill>
          <a:ln w="12700">
            <a:solidFill>
              <a:srgbClr val="E4F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0327" y="3383279"/>
            <a:ext cx="8229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70" b="1" i="0">
                <a:solidFill>
                  <a:srgbClr val="0B3D3B"/>
                </a:solidFill>
                <a:latin typeface="Inter"/>
              </a:rPr>
              <a:t>&lt;1000 Da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24728" y="3374136"/>
            <a:ext cx="950976" cy="320040"/>
          </a:xfrm>
          <a:prstGeom prst="roundRect">
            <a:avLst/>
          </a:prstGeom>
          <a:solidFill>
            <a:srgbClr val="DAEFF0"/>
          </a:solidFill>
          <a:ln w="12700">
            <a:solidFill>
              <a:srgbClr val="DA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4728" y="3383279"/>
            <a:ext cx="95097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70" b="1" i="0">
                <a:solidFill>
                  <a:srgbClr val="0B3D3B"/>
                </a:solidFill>
                <a:latin typeface="Inter"/>
              </a:rPr>
              <a:t>Mercury-free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67144" y="3374136"/>
            <a:ext cx="1207008" cy="320040"/>
          </a:xfrm>
          <a:prstGeom prst="roundRect">
            <a:avLst/>
          </a:prstGeom>
          <a:solidFill>
            <a:srgbClr val="DAEFF0"/>
          </a:solidFill>
          <a:ln w="12700">
            <a:solidFill>
              <a:srgbClr val="DA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67144" y="3383279"/>
            <a:ext cx="12070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70" b="1" i="0">
                <a:solidFill>
                  <a:srgbClr val="0B3D3B"/>
                </a:solidFill>
                <a:latin typeface="Inter"/>
              </a:rPr>
              <a:t>Heavy-metal tested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3858768"/>
            <a:ext cx="1170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>
                <a:solidFill>
                  <a:srgbClr val="111F1D"/>
                </a:solidFill>
                <a:latin typeface="Inter Display"/>
              </a:rPr>
              <a:t>₹1,439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6632" y="3931920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5726D"/>
                </a:solidFill>
                <a:latin typeface="Inter"/>
              </a:rPr>
              <a:t>₹1,799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50992" y="3913632"/>
            <a:ext cx="67665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2F855B"/>
                </a:solidFill>
                <a:latin typeface="Inter"/>
              </a:rPr>
              <a:t>20% OFF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0840" y="3858768"/>
            <a:ext cx="859536" cy="320040"/>
          </a:xfrm>
          <a:prstGeom prst="roundRect">
            <a:avLst/>
          </a:prstGeom>
          <a:solidFill>
            <a:srgbClr val="FCEEE8"/>
          </a:solidFill>
          <a:ln w="12700">
            <a:solidFill>
              <a:srgbClr val="FCE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3867911"/>
            <a:ext cx="85953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70" b="1" i="0">
                <a:solidFill>
                  <a:srgbClr val="BE4A42"/>
                </a:solidFill>
                <a:latin typeface="Inter"/>
              </a:rPr>
              <a:t>Only 32 left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431596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 i="0">
                <a:solidFill>
                  <a:srgbClr val="111F1D"/>
                </a:solidFill>
                <a:latin typeface="Inter"/>
              </a:rPr>
              <a:t>Choose your routine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31920" y="4572000"/>
            <a:ext cx="786384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1920" y="4654296"/>
            <a:ext cx="7863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19" b="1" i="0">
                <a:solidFill>
                  <a:srgbClr val="65726D"/>
                </a:solidFill>
                <a:latin typeface="Inter"/>
              </a:rPr>
              <a:t>25d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4846320"/>
            <a:ext cx="7863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40" b="0" i="0">
                <a:solidFill>
                  <a:srgbClr val="434D49"/>
                </a:solidFill>
                <a:latin typeface="Inter"/>
              </a:rPr>
              <a:t>1 tub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0" y="5020056"/>
            <a:ext cx="78638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80" b="1" i="0">
                <a:solidFill>
                  <a:srgbClr val="111F1D"/>
                </a:solidFill>
                <a:latin typeface="Inter"/>
              </a:rPr>
              <a:t>₹1,439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28031" y="4572000"/>
            <a:ext cx="786384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28031" y="4654296"/>
            <a:ext cx="7863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19" b="1" i="0">
                <a:solidFill>
                  <a:srgbClr val="65726D"/>
                </a:solidFill>
                <a:latin typeface="Inter"/>
              </a:rPr>
              <a:t>50d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28031" y="4846320"/>
            <a:ext cx="7863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40" b="0" i="0">
                <a:solidFill>
                  <a:srgbClr val="434D49"/>
                </a:solidFill>
                <a:latin typeface="Inter"/>
              </a:rPr>
              <a:t>2 tub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28031" y="5020056"/>
            <a:ext cx="78638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80" b="1" i="0">
                <a:solidFill>
                  <a:srgbClr val="111F1D"/>
                </a:solidFill>
                <a:latin typeface="Inter"/>
              </a:rPr>
              <a:t>₹2,878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24144" y="4572000"/>
            <a:ext cx="786384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24144" y="4654296"/>
            <a:ext cx="7863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19" b="1" i="0">
                <a:solidFill>
                  <a:srgbClr val="65726D"/>
                </a:solidFill>
                <a:latin typeface="Inter"/>
              </a:rPr>
              <a:t>75d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24144" y="4846320"/>
            <a:ext cx="7863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40" b="0" i="0">
                <a:solidFill>
                  <a:srgbClr val="434D49"/>
                </a:solidFill>
                <a:latin typeface="Inter"/>
              </a:rPr>
              <a:t>3 tub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24144" y="5020056"/>
            <a:ext cx="78638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80" b="1" i="0">
                <a:solidFill>
                  <a:srgbClr val="111F1D"/>
                </a:solidFill>
                <a:latin typeface="Inter"/>
              </a:rPr>
              <a:t>₹4,318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20256" y="4572000"/>
            <a:ext cx="786384" cy="713232"/>
          </a:xfrm>
          <a:prstGeom prst="roundRect">
            <a:avLst/>
          </a:prstGeom>
          <a:solidFill>
            <a:srgbClr val="F2F9F6"/>
          </a:solidFill>
          <a:ln w="17780">
            <a:solidFill>
              <a:srgbClr val="0B3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20256" y="4654296"/>
            <a:ext cx="7863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19" b="1" i="0">
                <a:solidFill>
                  <a:srgbClr val="0B3D3B"/>
                </a:solidFill>
                <a:latin typeface="Inter"/>
              </a:rPr>
              <a:t>100d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0256" y="4846320"/>
            <a:ext cx="7863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40" b="0" i="0">
                <a:solidFill>
                  <a:srgbClr val="434D49"/>
                </a:solidFill>
                <a:latin typeface="Inter"/>
              </a:rPr>
              <a:t>4 tub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0256" y="5020056"/>
            <a:ext cx="78638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80" b="1" i="0">
                <a:solidFill>
                  <a:srgbClr val="111F1D"/>
                </a:solidFill>
                <a:latin typeface="Inter"/>
              </a:rPr>
              <a:t>₹5,757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931920" y="5431536"/>
            <a:ext cx="2395728" cy="484632"/>
          </a:xfrm>
          <a:prstGeom prst="roundRect">
            <a:avLst/>
          </a:prstGeom>
          <a:solidFill>
            <a:srgbClr val="0B3D3B"/>
          </a:solidFill>
          <a:ln w="12700">
            <a:solidFill>
              <a:srgbClr val="0B3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31920" y="555955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ADD TO CART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46520" y="5431536"/>
            <a:ext cx="1682496" cy="484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3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6520" y="5559552"/>
            <a:ext cx="168249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40" b="1" i="0">
                <a:solidFill>
                  <a:srgbClr val="0B3D3B"/>
                </a:solidFill>
                <a:latin typeface="Inter"/>
              </a:rPr>
              <a:t>BUY IT NOW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31920" y="5980176"/>
            <a:ext cx="2578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 i="0">
                <a:solidFill>
                  <a:srgbClr val="65726D"/>
                </a:solidFill>
                <a:latin typeface="Inter"/>
              </a:rPr>
              <a:t>Check delivery  ·  Enter pincode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59952" y="2029968"/>
            <a:ext cx="1975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11F1D"/>
                </a:solidFill>
                <a:latin typeface="Inter Display"/>
              </a:rPr>
              <a:t>What changed</a:t>
            </a:r>
          </a:p>
        </p:txBody>
      </p:sp>
      <p:sp>
        <p:nvSpPr>
          <p:cNvPr id="57" name="Oval 56"/>
          <p:cNvSpPr/>
          <p:nvPr/>
        </p:nvSpPr>
        <p:spPr>
          <a:xfrm>
            <a:off x="8759952" y="2551176"/>
            <a:ext cx="310896" cy="310896"/>
          </a:xfrm>
          <a:prstGeom prst="ellipse">
            <a:avLst/>
          </a:prstGeom>
          <a:solidFill>
            <a:srgbClr val="0B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59952" y="2555748"/>
            <a:ext cx="31089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9720" y="2542032"/>
            <a:ext cx="19293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1" i="0">
                <a:solidFill>
                  <a:srgbClr val="434D49"/>
                </a:solidFill>
                <a:latin typeface="Inter"/>
              </a:rPr>
              <a:t>Outcome-led hierarchy</a:t>
            </a:r>
          </a:p>
        </p:txBody>
      </p:sp>
      <p:sp>
        <p:nvSpPr>
          <p:cNvPr id="60" name="Oval 59"/>
          <p:cNvSpPr/>
          <p:nvPr/>
        </p:nvSpPr>
        <p:spPr>
          <a:xfrm>
            <a:off x="8759952" y="3163824"/>
            <a:ext cx="310896" cy="310896"/>
          </a:xfrm>
          <a:prstGeom prst="ellipse">
            <a:avLst/>
          </a:prstGeom>
          <a:solidFill>
            <a:srgbClr val="0B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59952" y="3168396"/>
            <a:ext cx="31089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9720" y="3154680"/>
            <a:ext cx="19293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1" i="0">
                <a:solidFill>
                  <a:srgbClr val="434D49"/>
                </a:solidFill>
                <a:latin typeface="Inter"/>
              </a:rPr>
              <a:t>Proof chips near decision</a:t>
            </a:r>
          </a:p>
        </p:txBody>
      </p:sp>
      <p:sp>
        <p:nvSpPr>
          <p:cNvPr id="63" name="Oval 62"/>
          <p:cNvSpPr/>
          <p:nvPr/>
        </p:nvSpPr>
        <p:spPr>
          <a:xfrm>
            <a:off x="8759952" y="3776472"/>
            <a:ext cx="310896" cy="310896"/>
          </a:xfrm>
          <a:prstGeom prst="ellipse">
            <a:avLst/>
          </a:prstGeom>
          <a:solidFill>
            <a:srgbClr val="0B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59952" y="3781044"/>
            <a:ext cx="31089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89720" y="3767328"/>
            <a:ext cx="19293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1" i="0">
                <a:solidFill>
                  <a:srgbClr val="434D49"/>
                </a:solidFill>
                <a:latin typeface="Inter"/>
              </a:rPr>
              <a:t>Routine-led pack selector</a:t>
            </a:r>
          </a:p>
        </p:txBody>
      </p:sp>
      <p:sp>
        <p:nvSpPr>
          <p:cNvPr id="66" name="Oval 65"/>
          <p:cNvSpPr/>
          <p:nvPr/>
        </p:nvSpPr>
        <p:spPr>
          <a:xfrm>
            <a:off x="8759952" y="4389120"/>
            <a:ext cx="310896" cy="310896"/>
          </a:xfrm>
          <a:prstGeom prst="ellipse">
            <a:avLst/>
          </a:prstGeom>
          <a:solidFill>
            <a:srgbClr val="0B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59952" y="4393692"/>
            <a:ext cx="31089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89720" y="4379976"/>
            <a:ext cx="19293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1" i="0">
                <a:solidFill>
                  <a:srgbClr val="434D49"/>
                </a:solidFill>
                <a:latin typeface="Inter"/>
              </a:rPr>
              <a:t>Inventory signal preserved</a:t>
            </a:r>
          </a:p>
        </p:txBody>
      </p:sp>
      <p:sp>
        <p:nvSpPr>
          <p:cNvPr id="69" name="Oval 68"/>
          <p:cNvSpPr/>
          <p:nvPr/>
        </p:nvSpPr>
        <p:spPr>
          <a:xfrm>
            <a:off x="8759952" y="5001768"/>
            <a:ext cx="310896" cy="310896"/>
          </a:xfrm>
          <a:prstGeom prst="ellipse">
            <a:avLst/>
          </a:prstGeom>
          <a:solidFill>
            <a:srgbClr val="0B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59952" y="5006340"/>
            <a:ext cx="31089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89720" y="4992624"/>
            <a:ext cx="19293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1" i="0">
                <a:solidFill>
                  <a:srgbClr val="434D49"/>
                </a:solidFill>
                <a:latin typeface="Inter"/>
              </a:rPr>
              <a:t>Delivery reassurance added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759952" y="5577840"/>
            <a:ext cx="2322576" cy="512064"/>
          </a:xfrm>
          <a:prstGeom prst="roundRect">
            <a:avLst/>
          </a:prstGeom>
          <a:solidFill>
            <a:srgbClr val="DAEFF0"/>
          </a:solidFill>
          <a:ln w="12700">
            <a:solidFill>
              <a:srgbClr val="DA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942832" y="569671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1" i="0">
                <a:solidFill>
                  <a:srgbClr val="0B3D3B"/>
                </a:solidFill>
                <a:latin typeface="Inter"/>
              </a:rPr>
              <a:t>No fake discounts. No invented benefits.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8368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B8C3BF"/>
                </a:solidFill>
                <a:latin typeface="Inter"/>
              </a:rPr>
              <a:t>RAHUL SINGH  ·  CRO CASE STUDY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2336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B8C3BF"/>
                </a:solidFill>
                <a:latin typeface="Inter"/>
              </a:rPr>
              <a:t>CRO concept mock-up; all commercial terms use the audited PDP snapshot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292840" y="6483096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0B3D3B"/>
                </a:solidFill>
                <a:latin typeface="Inter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B3D3B"/>
                </a:solidFill>
                <a:latin typeface="Inter"/>
              </a:rPr>
              <a:t>PROOF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50" b="1" i="0">
                <a:solidFill>
                  <a:srgbClr val="111F1D"/>
                </a:solidFill>
                <a:latin typeface="Inter Display"/>
              </a:rPr>
              <a:t>Make evidence easier to consume — not less rigorous.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5726D"/>
                </a:solidFill>
                <a:latin typeface="Inter"/>
              </a:rPr>
              <a:t>Move from a long proof stack to a sequence that answers the next customer objection.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176272"/>
            <a:ext cx="1737360" cy="859536"/>
          </a:xfrm>
          <a:prstGeom prst="roundRect">
            <a:avLst/>
          </a:prstGeom>
          <a:solidFill>
            <a:srgbClr val="E4F2ED"/>
          </a:solidFill>
          <a:ln w="12700">
            <a:solidFill>
              <a:srgbClr val="E4F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340864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9" b="1" i="0">
                <a:solidFill>
                  <a:srgbClr val="0B3D3B"/>
                </a:solidFill>
                <a:latin typeface="Inter"/>
              </a:rP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569464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9" b="1" i="0">
                <a:solidFill>
                  <a:srgbClr val="111F1D"/>
                </a:solidFill>
                <a:latin typeface="Inter"/>
              </a:rPr>
              <a:t>Outcome + formulation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2032" y="238658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B3D3B"/>
                </a:solidFill>
                <a:latin typeface="Inter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2656" y="2176272"/>
            <a:ext cx="1737360" cy="859536"/>
          </a:xfrm>
          <a:prstGeom prst="roundRect">
            <a:avLst/>
          </a:prstGeom>
          <a:solidFill>
            <a:srgbClr val="DAEFF0"/>
          </a:solidFill>
          <a:ln w="12700">
            <a:solidFill>
              <a:srgbClr val="DA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4096" y="2340864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9" b="1" i="0">
                <a:solidFill>
                  <a:srgbClr val="0B3D3B"/>
                </a:solidFill>
                <a:latin typeface="Inter"/>
              </a:rPr>
              <a:t>CHOOSE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4096" y="2569464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9" b="1" i="0">
                <a:solidFill>
                  <a:srgbClr val="111F1D"/>
                </a:solidFill>
                <a:latin typeface="Inter"/>
              </a:rPr>
              <a:t>Routine-led packs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38658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B3D3B"/>
                </a:solidFill>
                <a:latin typeface="Inter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75504" y="2176272"/>
            <a:ext cx="1737360" cy="859536"/>
          </a:xfrm>
          <a:prstGeom prst="roundRect">
            <a:avLst/>
          </a:prstGeom>
          <a:solidFill>
            <a:srgbClr val="E3EFF7"/>
          </a:solidFill>
          <a:ln w="12700">
            <a:solidFill>
              <a:srgbClr val="E3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66944" y="2340864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9" b="1" i="0">
                <a:solidFill>
                  <a:srgbClr val="0B3D3B"/>
                </a:solidFill>
                <a:latin typeface="Inter"/>
              </a:rPr>
              <a:t>BELIEVE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6944" y="2569464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9" b="1" i="0">
                <a:solidFill>
                  <a:srgbClr val="111F1D"/>
                </a:solidFill>
                <a:latin typeface="Inter"/>
              </a:rPr>
              <a:t>Science + traceability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238658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B3D3B"/>
                </a:solidFill>
                <a:latin typeface="Inter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88352" y="2176272"/>
            <a:ext cx="1737360" cy="859536"/>
          </a:xfrm>
          <a:prstGeom prst="roundRect">
            <a:avLst/>
          </a:prstGeom>
          <a:solidFill>
            <a:srgbClr val="E4F2ED"/>
          </a:solidFill>
          <a:ln w="12700">
            <a:solidFill>
              <a:srgbClr val="E4F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2340864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9" b="1" i="0">
                <a:solidFill>
                  <a:srgbClr val="0B3D3B"/>
                </a:solidFill>
                <a:latin typeface="Inter"/>
              </a:rPr>
              <a:t>DE-RISK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9792" y="2569464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9" b="1" i="0">
                <a:solidFill>
                  <a:srgbClr val="111F1D"/>
                </a:solidFill>
                <a:latin typeface="Inter"/>
              </a:rPr>
              <a:t>Reviews + lab 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238658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B3D3B"/>
                </a:solidFill>
                <a:latin typeface="Inter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2176272"/>
            <a:ext cx="1737360" cy="859536"/>
          </a:xfrm>
          <a:prstGeom prst="roundRect">
            <a:avLst/>
          </a:prstGeom>
          <a:solidFill>
            <a:srgbClr val="DAEFF0"/>
          </a:solidFill>
          <a:ln w="12700">
            <a:solidFill>
              <a:srgbClr val="DA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2340864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9" b="1" i="0">
                <a:solidFill>
                  <a:srgbClr val="0B3D3B"/>
                </a:solidFill>
                <a:latin typeface="Inter"/>
              </a:rPr>
              <a:t>BUY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569464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9" b="1" i="0">
                <a:solidFill>
                  <a:srgbClr val="111F1D"/>
                </a:solidFill>
                <a:latin typeface="Inter"/>
              </a:rPr>
              <a:t>Clear CTA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39242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11F1D"/>
                </a:solidFill>
                <a:latin typeface="Inter Display"/>
              </a:rPr>
              <a:t>Make science scannable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3822191"/>
            <a:ext cx="2112264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86968" y="3986784"/>
            <a:ext cx="1517904" cy="320040"/>
          </a:xfrm>
          <a:prstGeom prst="roundRect">
            <a:avLst/>
          </a:prstGeom>
          <a:solidFill>
            <a:srgbClr val="E4F2ED"/>
          </a:solidFill>
          <a:ln w="12700">
            <a:solidFill>
              <a:srgbClr val="E4F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3995928"/>
            <a:ext cx="151790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30" b="1" i="0">
                <a:solidFill>
                  <a:srgbClr val="0B3D3B"/>
                </a:solidFill>
                <a:latin typeface="Inter"/>
              </a:rPr>
              <a:t>SKIN HYDRATION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" y="43982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434D49"/>
                </a:solidFill>
                <a:latin typeface="Inter"/>
              </a:rPr>
              <a:t>Randomised controlled study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08960" y="3822191"/>
            <a:ext cx="2112264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46120" y="3986784"/>
            <a:ext cx="1664208" cy="320040"/>
          </a:xfrm>
          <a:prstGeom prst="roundRect">
            <a:avLst/>
          </a:prstGeom>
          <a:solidFill>
            <a:srgbClr val="E4F2ED"/>
          </a:solidFill>
          <a:ln w="12700">
            <a:solidFill>
              <a:srgbClr val="E4F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6120" y="3995928"/>
            <a:ext cx="16642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30" b="1" i="0">
                <a:solidFill>
                  <a:srgbClr val="0B3D3B"/>
                </a:solidFill>
                <a:latin typeface="Inter"/>
              </a:rPr>
              <a:t>WRINKLES + ELASTICITY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43982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434D49"/>
                </a:solidFill>
                <a:latin typeface="Inter"/>
              </a:rPr>
              <a:t>Triple-blind study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68112" y="3822191"/>
            <a:ext cx="2112264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05272" y="3986784"/>
            <a:ext cx="1517904" cy="320040"/>
          </a:xfrm>
          <a:prstGeom prst="roundRect">
            <a:avLst/>
          </a:prstGeom>
          <a:solidFill>
            <a:srgbClr val="E4F2ED"/>
          </a:solidFill>
          <a:ln w="12700">
            <a:solidFill>
              <a:srgbClr val="E4F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05272" y="3995928"/>
            <a:ext cx="151790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30" b="1" i="0">
                <a:solidFill>
                  <a:srgbClr val="0B3D3B"/>
                </a:solidFill>
                <a:latin typeface="Inter"/>
              </a:rPr>
              <a:t>SKIN TEXTURE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05272" y="43982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434D49"/>
                </a:solidFill>
                <a:latin typeface="Inter"/>
              </a:rPr>
              <a:t>Double-blind study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27264" y="3822191"/>
            <a:ext cx="2112264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964424" y="3986784"/>
            <a:ext cx="1517904" cy="320040"/>
          </a:xfrm>
          <a:prstGeom prst="roundRect">
            <a:avLst/>
          </a:prstGeom>
          <a:solidFill>
            <a:srgbClr val="E4F2ED"/>
          </a:solidFill>
          <a:ln w="12700">
            <a:solidFill>
              <a:srgbClr val="E4F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64424" y="3995928"/>
            <a:ext cx="151790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30" b="1" i="0">
                <a:solidFill>
                  <a:srgbClr val="0B3D3B"/>
                </a:solidFill>
                <a:latin typeface="Inter"/>
              </a:rPr>
              <a:t>JOINT SUPPORT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64424" y="43982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434D49"/>
                </a:solidFill>
                <a:latin typeface="Inter"/>
              </a:rPr>
              <a:t>Systematic review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9808" y="5138928"/>
            <a:ext cx="10497312" cy="841248"/>
          </a:xfrm>
          <a:prstGeom prst="roundRect">
            <a:avLst/>
          </a:prstGeom>
          <a:solidFill>
            <a:srgbClr val="FCF6E9"/>
          </a:solidFill>
          <a:ln w="12700">
            <a:solidFill>
              <a:srgbClr val="EFD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" y="5330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916918"/>
                </a:solidFill>
                <a:latin typeface="Inter"/>
              </a:rPr>
              <a:t>TRUST CHECK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56816" y="5294376"/>
            <a:ext cx="89976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1" i="0">
                <a:solidFill>
                  <a:srgbClr val="434D49"/>
                </a:solidFill>
                <a:latin typeface="Inter"/>
              </a:rPr>
              <a:t>Standardise absorption messaging: the current page uses 1.5×, 4× and 5× in different contexts. Keep one substantiated claim and make the comparator explicit.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B8C3BF"/>
                </a:solidFill>
                <a:latin typeface="Inter"/>
              </a:rPr>
              <a:t>RAHUL SINGH  ·  CRO CASE STUDY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2336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B8C3BF"/>
                </a:solidFill>
                <a:latin typeface="Inter"/>
              </a:rPr>
              <a:t>Principle: benefit first → mechanism second → evidence third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92840" y="6483096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0B3D3B"/>
                </a:solidFill>
                <a:latin typeface="Inter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B3D3B"/>
                </a:solidFill>
                <a:latin typeface="Inter"/>
              </a:rPr>
              <a:t>TEST &amp;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50" b="1" i="0">
                <a:solidFill>
                  <a:srgbClr val="111F1D"/>
                </a:solidFill>
                <a:latin typeface="Inter Display"/>
              </a:rPr>
              <a:t>Treat every redesign choice as a hypothesis.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5726D"/>
                </a:solidFill>
                <a:latin typeface="Inter"/>
              </a:rPr>
              <a:t>No claimed uplift without analytics. Prioritise high-impact experiments, then validate with controlled testing.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2011680"/>
            <a:ext cx="2240280" cy="438912"/>
          </a:xfrm>
          <a:prstGeom prst="rect">
            <a:avLst/>
          </a:prstGeom>
          <a:solidFill>
            <a:srgbClr val="0B3D3B"/>
          </a:solidFill>
          <a:ln w="12700">
            <a:solidFill>
              <a:srgbClr val="0B3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21408"/>
            <a:ext cx="1984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1" i="0">
                <a:solidFill>
                  <a:srgbClr val="FFFFFF"/>
                </a:solidFill>
                <a:latin typeface="Inter"/>
              </a:rPr>
              <a:t>EXPERIMENT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916936" y="2011680"/>
            <a:ext cx="5230368" cy="438912"/>
          </a:xfrm>
          <a:prstGeom prst="rect">
            <a:avLst/>
          </a:prstGeom>
          <a:solidFill>
            <a:srgbClr val="0B3D3B"/>
          </a:solidFill>
          <a:ln w="12700">
            <a:solidFill>
              <a:srgbClr val="0B3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2121408"/>
            <a:ext cx="4974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1" i="0">
                <a:solidFill>
                  <a:srgbClr val="FFFFFF"/>
                </a:solidFill>
                <a:latin typeface="Inter"/>
              </a:rPr>
              <a:t>HYPOTHESIS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47304" y="2011680"/>
            <a:ext cx="2980944" cy="438912"/>
          </a:xfrm>
          <a:prstGeom prst="rect">
            <a:avLst/>
          </a:prstGeom>
          <a:solidFill>
            <a:srgbClr val="0B3D3B"/>
          </a:solidFill>
          <a:ln w="12700">
            <a:solidFill>
              <a:srgbClr val="0B3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121408"/>
            <a:ext cx="27249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1" i="0">
                <a:solidFill>
                  <a:srgbClr val="FFFFFF"/>
                </a:solidFill>
                <a:latin typeface="Inter"/>
              </a:rPr>
              <a:t>PRIMARY MEASURE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" y="2450592"/>
            <a:ext cx="22402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569464"/>
            <a:ext cx="19842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111F1D"/>
                </a:solidFill>
                <a:latin typeface="Inter"/>
              </a:rPr>
              <a:t>Routine-led packs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16936" y="2450592"/>
            <a:ext cx="5230368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2569464"/>
            <a:ext cx="497433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0" i="0">
                <a:solidFill>
                  <a:srgbClr val="434D49"/>
                </a:solidFill>
                <a:latin typeface="Inter"/>
              </a:rPr>
              <a:t>Duration framing increases multi-pack selection.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47304" y="2450592"/>
            <a:ext cx="2980944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569464"/>
            <a:ext cx="2724911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0" i="0">
                <a:solidFill>
                  <a:srgbClr val="434D49"/>
                </a:solidFill>
                <a:latin typeface="Inter"/>
              </a:rPr>
              <a:t>Pack mix · AOV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" y="2953512"/>
            <a:ext cx="2240280" cy="502920"/>
          </a:xfrm>
          <a:prstGeom prst="rect">
            <a:avLst/>
          </a:prstGeom>
          <a:solidFill>
            <a:srgbClr val="F8FAF9"/>
          </a:solidFill>
          <a:ln w="762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072384"/>
            <a:ext cx="19842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111F1D"/>
                </a:solidFill>
                <a:latin typeface="Inter"/>
              </a:rPr>
              <a:t>Progressive savings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16936" y="2953512"/>
            <a:ext cx="5230368" cy="502920"/>
          </a:xfrm>
          <a:prstGeom prst="rect">
            <a:avLst/>
          </a:prstGeom>
          <a:solidFill>
            <a:srgbClr val="F8FAF9"/>
          </a:solidFill>
          <a:ln w="762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3072384"/>
            <a:ext cx="497433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0" i="0">
                <a:solidFill>
                  <a:srgbClr val="434D49"/>
                </a:solidFill>
                <a:latin typeface="Inter"/>
              </a:rPr>
              <a:t>Incremental incentive increases commitment.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47304" y="2953512"/>
            <a:ext cx="2980944" cy="502920"/>
          </a:xfrm>
          <a:prstGeom prst="rect">
            <a:avLst/>
          </a:prstGeom>
          <a:solidFill>
            <a:srgbClr val="F8FAF9"/>
          </a:solidFill>
          <a:ln w="762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3072384"/>
            <a:ext cx="2724911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0" i="0">
                <a:solidFill>
                  <a:srgbClr val="434D49"/>
                </a:solidFill>
                <a:latin typeface="Inter"/>
              </a:rPr>
              <a:t>Revenue / visitor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" y="3456432"/>
            <a:ext cx="22402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575304"/>
            <a:ext cx="19842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111F1D"/>
                </a:solidFill>
                <a:latin typeface="Inter"/>
              </a:rPr>
              <a:t>Simplified hero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16936" y="3456432"/>
            <a:ext cx="5230368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3575304"/>
            <a:ext cx="497433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0" i="0">
                <a:solidFill>
                  <a:srgbClr val="434D49"/>
                </a:solidFill>
                <a:latin typeface="Inter"/>
              </a:rPr>
              <a:t>Faster comprehension improves purchase intent.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47304" y="3456432"/>
            <a:ext cx="2980944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3575304"/>
            <a:ext cx="2724911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0" i="0">
                <a:solidFill>
                  <a:srgbClr val="434D49"/>
                </a:solidFill>
                <a:latin typeface="Inter"/>
              </a:rPr>
              <a:t>Add-to-cart rate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" y="3959352"/>
            <a:ext cx="2240280" cy="502920"/>
          </a:xfrm>
          <a:prstGeom prst="rect">
            <a:avLst/>
          </a:prstGeom>
          <a:solidFill>
            <a:srgbClr val="F8FAF9"/>
          </a:solidFill>
          <a:ln w="762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078224"/>
            <a:ext cx="19842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111F1D"/>
                </a:solidFill>
                <a:latin typeface="Inter"/>
              </a:rPr>
              <a:t>Proof near CTA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16936" y="3959352"/>
            <a:ext cx="5230368" cy="502920"/>
          </a:xfrm>
          <a:prstGeom prst="rect">
            <a:avLst/>
          </a:prstGeom>
          <a:solidFill>
            <a:srgbClr val="F8FAF9"/>
          </a:solidFill>
          <a:ln w="762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4078224"/>
            <a:ext cx="497433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0" i="0">
                <a:solidFill>
                  <a:srgbClr val="434D49"/>
                </a:solidFill>
                <a:latin typeface="Inter"/>
              </a:rPr>
              <a:t>Earlier reassurance reduces purchase hesitation.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47304" y="3959352"/>
            <a:ext cx="2980944" cy="502920"/>
          </a:xfrm>
          <a:prstGeom prst="rect">
            <a:avLst/>
          </a:prstGeom>
          <a:solidFill>
            <a:srgbClr val="F8FAF9"/>
          </a:solidFill>
          <a:ln w="762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4078224"/>
            <a:ext cx="2724911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0" i="0">
                <a:solidFill>
                  <a:srgbClr val="434D49"/>
                </a:solidFill>
                <a:latin typeface="Inter"/>
              </a:rPr>
              <a:t>ATC → checkout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" y="4462272"/>
            <a:ext cx="22402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" y="4581144"/>
            <a:ext cx="19842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111F1D"/>
                </a:solidFill>
                <a:latin typeface="Inter"/>
              </a:rPr>
              <a:t>Delivery module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16936" y="4462272"/>
            <a:ext cx="5230368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4581144"/>
            <a:ext cx="497433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0" i="0">
                <a:solidFill>
                  <a:srgbClr val="434D49"/>
                </a:solidFill>
                <a:latin typeface="Inter"/>
              </a:rPr>
              <a:t>Delivery certainty reduces transactional friction.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47304" y="4462272"/>
            <a:ext cx="2980944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5320" y="4581144"/>
            <a:ext cx="2724911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0" i="0">
                <a:solidFill>
                  <a:srgbClr val="434D49"/>
                </a:solidFill>
                <a:latin typeface="Inter"/>
              </a:rPr>
              <a:t>Checkout starts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6656" y="4965192"/>
            <a:ext cx="2240280" cy="502920"/>
          </a:xfrm>
          <a:prstGeom prst="rect">
            <a:avLst/>
          </a:prstGeom>
          <a:solidFill>
            <a:srgbClr val="F8FAF9"/>
          </a:solidFill>
          <a:ln w="762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" y="5084064"/>
            <a:ext cx="19842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111F1D"/>
                </a:solidFill>
                <a:latin typeface="Inter"/>
              </a:rPr>
              <a:t>Scannable science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16936" y="4965192"/>
            <a:ext cx="5230368" cy="502920"/>
          </a:xfrm>
          <a:prstGeom prst="rect">
            <a:avLst/>
          </a:prstGeom>
          <a:solidFill>
            <a:srgbClr val="F8FAF9"/>
          </a:solidFill>
          <a:ln w="762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44952" y="5084064"/>
            <a:ext cx="497433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0" i="0">
                <a:solidFill>
                  <a:srgbClr val="434D49"/>
                </a:solidFill>
                <a:latin typeface="Inter"/>
              </a:rPr>
              <a:t>Easier evidence increases proof engagement.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47304" y="4965192"/>
            <a:ext cx="2980944" cy="502920"/>
          </a:xfrm>
          <a:prstGeom prst="rect">
            <a:avLst/>
          </a:prstGeom>
          <a:solidFill>
            <a:srgbClr val="F8FAF9"/>
          </a:solidFill>
          <a:ln w="7620">
            <a:solidFill>
              <a:srgbClr val="E1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20" y="5084064"/>
            <a:ext cx="2724911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0" i="0">
                <a:solidFill>
                  <a:srgbClr val="434D49"/>
                </a:solidFill>
                <a:latin typeface="Inter"/>
              </a:rPr>
              <a:t>Engagement + ATC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6656" y="5596128"/>
            <a:ext cx="10451592" cy="658368"/>
          </a:xfrm>
          <a:prstGeom prst="roundRect">
            <a:avLst/>
          </a:prstGeom>
          <a:solidFill>
            <a:srgbClr val="0B3D3B"/>
          </a:solidFill>
          <a:ln w="12700">
            <a:solidFill>
              <a:srgbClr val="0B3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6968" y="575157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30" b="1" i="0">
                <a:solidFill>
                  <a:srgbClr val="AEDDD3"/>
                </a:solidFill>
                <a:latin typeface="Inter"/>
              </a:rPr>
              <a:t>Winning idea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92807" y="5715000"/>
            <a:ext cx="8778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1" i="0">
                <a:solidFill>
                  <a:srgbClr val="FFFFFF"/>
                </a:solidFill>
                <a:latin typeface="Inter Display"/>
              </a:rPr>
              <a:t>Use the existing credibility better: make the routine obvious, place proof at anxiety points, and test before scaling.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B8C3BF"/>
                </a:solidFill>
                <a:latin typeface="Inter"/>
              </a:rPr>
              <a:t>RAHUL SINGH  ·  CRO CASE STUDY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2336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B8C3BF"/>
                </a:solidFill>
                <a:latin typeface="Inter"/>
              </a:rPr>
              <a:t>Deliverables: CRO deck + interactive HTML PDP prototype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92840" y="6483096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0B3D3B"/>
                </a:solidFill>
                <a:latin typeface="Inter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